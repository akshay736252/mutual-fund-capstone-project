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96596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MUTUAL FUND ANALYTICS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278892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— Final Presentation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331012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NAV data to risk-adjusted investment insight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416052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41605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12" dirty="0">
                <a:solidFill>
                  <a:srgbClr val="000000"/>
                </a:solidFill>
              </a:rPr>
              <a:t>🐍</a:t>
            </a:r>
            <a:endParaRPr lang="en-US" sz="1612" dirty="0"/>
          </a:p>
        </p:txBody>
      </p:sp>
      <p:sp>
        <p:nvSpPr>
          <p:cNvPr id="7" name="Text 5"/>
          <p:cNvSpPr/>
          <p:nvPr/>
        </p:nvSpPr>
        <p:spPr>
          <a:xfrm>
            <a:off x="365760" y="4773168"/>
            <a:ext cx="12984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880360" y="416052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2880360" y="41605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12" dirty="0">
                <a:solidFill>
                  <a:srgbClr val="000000"/>
                </a:solidFill>
              </a:rPr>
              <a:t>🗄️</a:t>
            </a:r>
            <a:endParaRPr lang="en-US" sz="1612" dirty="0"/>
          </a:p>
        </p:txBody>
      </p:sp>
      <p:sp>
        <p:nvSpPr>
          <p:cNvPr id="10" name="Text 8"/>
          <p:cNvSpPr/>
          <p:nvPr/>
        </p:nvSpPr>
        <p:spPr>
          <a:xfrm>
            <a:off x="2514600" y="4773168"/>
            <a:ext cx="12984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0" y="416052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0" y="41605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12" dirty="0">
                <a:solidFill>
                  <a:srgbClr val="000000"/>
                </a:solidFill>
              </a:rPr>
              <a:t>📊</a:t>
            </a:r>
            <a:endParaRPr lang="en-US" sz="1612" dirty="0"/>
          </a:p>
        </p:txBody>
      </p:sp>
      <p:sp>
        <p:nvSpPr>
          <p:cNvPr id="13" name="Text 11"/>
          <p:cNvSpPr/>
          <p:nvPr/>
        </p:nvSpPr>
        <p:spPr>
          <a:xfrm>
            <a:off x="4663440" y="4773168"/>
            <a:ext cx="12984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178040" y="416052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7178040" y="41605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12" dirty="0">
                <a:solidFill>
                  <a:srgbClr val="000000"/>
                </a:solidFill>
              </a:rPr>
              <a:t>🔗</a:t>
            </a:r>
            <a:endParaRPr lang="en-US" sz="1612" dirty="0"/>
          </a:p>
        </p:txBody>
      </p:sp>
      <p:sp>
        <p:nvSpPr>
          <p:cNvPr id="16" name="Text 14"/>
          <p:cNvSpPr/>
          <p:nvPr/>
        </p:nvSpPr>
        <p:spPr>
          <a:xfrm>
            <a:off x="6812280" y="4773168"/>
            <a:ext cx="12984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326880" y="416052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9326880" y="41605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12" dirty="0">
                <a:solidFill>
                  <a:srgbClr val="000000"/>
                </a:solidFill>
              </a:rPr>
              <a:t>📓</a:t>
            </a:r>
            <a:endParaRPr lang="en-US" sz="1612" dirty="0"/>
          </a:p>
        </p:txBody>
      </p:sp>
      <p:sp>
        <p:nvSpPr>
          <p:cNvPr id="19" name="Text 17"/>
          <p:cNvSpPr/>
          <p:nvPr/>
        </p:nvSpPr>
        <p:spPr>
          <a:xfrm>
            <a:off x="8961120" y="4773168"/>
            <a:ext cx="12984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31520" y="58064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Akshay Kanojia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31520" y="614476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Bachelor of Computer Applications (BCA)  |  Academic Year 2025–2026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INTRODUCTION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Making Sense of Mutual Fund Data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760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funds offer diversification, professional management, and easy access for retail investors — but comparing schemes across returns, risk, and cost is genuinely hard.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834640"/>
            <a:ext cx="5760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applies data analytics and visualization to help investors compare funds, evaluate performance, understand risk, and make better decisions.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675120" y="1554480"/>
            <a:ext cx="49377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9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B34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903720" y="1810512"/>
            <a:ext cx="822960" cy="8229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8" name="Text 6"/>
          <p:cNvSpPr/>
          <p:nvPr/>
        </p:nvSpPr>
        <p:spPr>
          <a:xfrm>
            <a:off x="6903720" y="1810512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40" dirty="0">
                <a:solidFill>
                  <a:srgbClr val="000000"/>
                </a:solidFill>
              </a:rPr>
              <a:t>🧩</a:t>
            </a:r>
            <a:endParaRPr lang="en-US" sz="2340" dirty="0"/>
          </a:p>
        </p:txBody>
      </p:sp>
      <p:sp>
        <p:nvSpPr>
          <p:cNvPr id="9" name="Text 7"/>
          <p:cNvSpPr/>
          <p:nvPr/>
        </p:nvSpPr>
        <p:spPr>
          <a:xfrm>
            <a:off x="7863840" y="17373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Diversification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863840" y="2121408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 risk across many holdings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675120" y="3182112"/>
            <a:ext cx="49377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9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B34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903720" y="3438144"/>
            <a:ext cx="822960" cy="8229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3" name="Text 11"/>
          <p:cNvSpPr/>
          <p:nvPr/>
        </p:nvSpPr>
        <p:spPr>
          <a:xfrm>
            <a:off x="6903720" y="3438144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40" dirty="0">
                <a:solidFill>
                  <a:srgbClr val="000000"/>
                </a:solidFill>
              </a:rPr>
              <a:t>🧑‍💼</a:t>
            </a:r>
            <a:endParaRPr lang="en-US" sz="2340" dirty="0"/>
          </a:p>
        </p:txBody>
      </p:sp>
      <p:sp>
        <p:nvSpPr>
          <p:cNvPr id="14" name="Text 12"/>
          <p:cNvSpPr/>
          <p:nvPr/>
        </p:nvSpPr>
        <p:spPr>
          <a:xfrm>
            <a:off x="7863840" y="3364992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Management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863840" y="374904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Experts handle security selection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675120" y="4809744"/>
            <a:ext cx="49377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9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B34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903720" y="5065776"/>
            <a:ext cx="822960" cy="8229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8" name="Text 16"/>
          <p:cNvSpPr/>
          <p:nvPr/>
        </p:nvSpPr>
        <p:spPr>
          <a:xfrm>
            <a:off x="6903720" y="5065776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40" dirty="0">
                <a:solidFill>
                  <a:srgbClr val="000000"/>
                </a:solidFill>
              </a:rPr>
              <a:t>🔓</a:t>
            </a:r>
            <a:endParaRPr lang="en-US" sz="2340" dirty="0"/>
          </a:p>
        </p:txBody>
      </p:sp>
      <p:sp>
        <p:nvSpPr>
          <p:cNvPr id="19" name="Text 17"/>
          <p:cNvSpPr/>
          <p:nvPr/>
        </p:nvSpPr>
        <p:spPr>
          <a:xfrm>
            <a:off x="7863840" y="4992624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863840" y="5376672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entry barrier for retail investors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1430000" y="651052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15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PROBLEM STATEMENT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 Many Funds, Too Little Clarity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Investors face numerous schemes with different returns, risk levels, expense ratios, and portfolio allocations. Manual analysis is slow and often leads to poor investment decisions.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651760"/>
            <a:ext cx="539496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E3E9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B34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28803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😵  Manual Approach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3429000"/>
            <a:ext cx="47548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✗"/>
            </a:pPr>
            <a:r>
              <a:rPr lang="en-US" sz="13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Spreadsheets and scattered fact sheets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✗"/>
            </a:pPr>
            <a:r>
              <a:rPr lang="en-US" sz="13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Time-consuming, error-prone comparisons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✗"/>
            </a:pPr>
            <a:r>
              <a:rPr lang="en-US" sz="13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Return-only view — risk often ignored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✗"/>
            </a:pPr>
            <a:r>
              <a:rPr lang="en-US" sz="13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consistent way to rank funds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45352" y="2651760"/>
            <a:ext cx="539496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E3E9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B34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65392" y="28803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This Platform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565392" y="3429000"/>
            <a:ext cx="47548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ETL from raw CSVs to SQLite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Risk-adjusted metrics: Sharpe, Sortino, Alpha, Beta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VaR, CVaR &amp; rolling risk analysis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Power BI dashboards &amp; fund recommender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1430000" y="651052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15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OBJECTIVES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Project Set Out to Do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715768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3E9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B34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892808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89280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60" dirty="0">
                <a:solidFill>
                  <a:srgbClr val="000000"/>
                </a:solidFill>
              </a:rPr>
              <a:t>🔧</a:t>
            </a:r>
            <a:endParaRPr lang="en-US" sz="1560" dirty="0"/>
          </a:p>
        </p:txBody>
      </p:sp>
      <p:sp>
        <p:nvSpPr>
          <p:cNvPr id="7" name="Text 5"/>
          <p:cNvSpPr/>
          <p:nvPr/>
        </p:nvSpPr>
        <p:spPr>
          <a:xfrm>
            <a:off x="731520" y="2560320"/>
            <a:ext cx="235000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ETL pipeline for mutual fund datasets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429000" y="1691640"/>
            <a:ext cx="2715768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3E9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B34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30168" y="1892808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3630168" y="189280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60" dirty="0">
                <a:solidFill>
                  <a:srgbClr val="000000"/>
                </a:solidFill>
              </a:rPr>
              <a:t>🧹</a:t>
            </a:r>
            <a:endParaRPr lang="en-US" sz="1560" dirty="0"/>
          </a:p>
        </p:txBody>
      </p:sp>
      <p:sp>
        <p:nvSpPr>
          <p:cNvPr id="11" name="Text 9"/>
          <p:cNvSpPr/>
          <p:nvPr/>
        </p:nvSpPr>
        <p:spPr>
          <a:xfrm>
            <a:off x="3611880" y="2560320"/>
            <a:ext cx="235000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and preprocess raw data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309360" y="1691640"/>
            <a:ext cx="2715768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3E9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B34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510528" y="1892808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6510528" y="189280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60" dirty="0">
                <a:solidFill>
                  <a:srgbClr val="000000"/>
                </a:solidFill>
              </a:rPr>
              <a:t>🗄️</a:t>
            </a:r>
            <a:endParaRPr lang="en-US" sz="1560" dirty="0"/>
          </a:p>
        </p:txBody>
      </p:sp>
      <p:sp>
        <p:nvSpPr>
          <p:cNvPr id="15" name="Text 13"/>
          <p:cNvSpPr/>
          <p:nvPr/>
        </p:nvSpPr>
        <p:spPr>
          <a:xfrm>
            <a:off x="6492240" y="2560320"/>
            <a:ext cx="235000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processed data in SQLite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189720" y="1691640"/>
            <a:ext cx="2715768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3E9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B34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390888" y="1892808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9390888" y="189280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60" dirty="0">
                <a:solidFill>
                  <a:srgbClr val="000000"/>
                </a:solidFill>
              </a:rPr>
              <a:t>🔎</a:t>
            </a:r>
            <a:endParaRPr lang="en-US" sz="1560" dirty="0"/>
          </a:p>
        </p:txBody>
      </p:sp>
      <p:sp>
        <p:nvSpPr>
          <p:cNvPr id="19" name="Text 17"/>
          <p:cNvSpPr/>
          <p:nvPr/>
        </p:nvSpPr>
        <p:spPr>
          <a:xfrm>
            <a:off x="9372600" y="2560320"/>
            <a:ext cx="235000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 exploratory data analysis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3840480"/>
            <a:ext cx="2715768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3E9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B34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49808" y="4041648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749808" y="404164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60" dirty="0">
                <a:solidFill>
                  <a:srgbClr val="000000"/>
                </a:solidFill>
              </a:rPr>
              <a:t>📈</a:t>
            </a:r>
            <a:endParaRPr lang="en-US" sz="1560" dirty="0"/>
          </a:p>
        </p:txBody>
      </p:sp>
      <p:sp>
        <p:nvSpPr>
          <p:cNvPr id="23" name="Text 21"/>
          <p:cNvSpPr/>
          <p:nvPr/>
        </p:nvSpPr>
        <p:spPr>
          <a:xfrm>
            <a:off x="731520" y="4709160"/>
            <a:ext cx="235000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financial performance metrics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3429000" y="3840480"/>
            <a:ext cx="2715768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3E9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B34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30168" y="4041648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6" name="Text 24"/>
          <p:cNvSpPr/>
          <p:nvPr/>
        </p:nvSpPr>
        <p:spPr>
          <a:xfrm>
            <a:off x="3630168" y="404164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60" dirty="0">
                <a:solidFill>
                  <a:srgbClr val="000000"/>
                </a:solidFill>
              </a:rPr>
              <a:t>⚠️</a:t>
            </a:r>
            <a:endParaRPr lang="en-US" sz="1560" dirty="0"/>
          </a:p>
        </p:txBody>
      </p:sp>
      <p:sp>
        <p:nvSpPr>
          <p:cNvPr id="27" name="Text 25"/>
          <p:cNvSpPr/>
          <p:nvPr/>
        </p:nvSpPr>
        <p:spPr>
          <a:xfrm>
            <a:off x="3611880" y="4709160"/>
            <a:ext cx="235000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advanced risk metrics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309360" y="3840480"/>
            <a:ext cx="2715768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3E9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B34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510528" y="4041648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0" name="Text 28"/>
          <p:cNvSpPr/>
          <p:nvPr/>
        </p:nvSpPr>
        <p:spPr>
          <a:xfrm>
            <a:off x="6510528" y="404164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60" dirty="0">
                <a:solidFill>
                  <a:srgbClr val="000000"/>
                </a:solidFill>
              </a:rPr>
              <a:t>🎯</a:t>
            </a:r>
            <a:endParaRPr lang="en-US" sz="1560" dirty="0"/>
          </a:p>
        </p:txBody>
      </p:sp>
      <p:sp>
        <p:nvSpPr>
          <p:cNvPr id="31" name="Text 29"/>
          <p:cNvSpPr/>
          <p:nvPr/>
        </p:nvSpPr>
        <p:spPr>
          <a:xfrm>
            <a:off x="6492240" y="4709160"/>
            <a:ext cx="235000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recommendation system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9189720" y="3840480"/>
            <a:ext cx="2715768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3E9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B34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9390888" y="4041648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4" name="Text 32"/>
          <p:cNvSpPr/>
          <p:nvPr/>
        </p:nvSpPr>
        <p:spPr>
          <a:xfrm>
            <a:off x="9390888" y="404164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60" dirty="0">
                <a:solidFill>
                  <a:srgbClr val="000000"/>
                </a:solidFill>
              </a:rPr>
              <a:t>📊</a:t>
            </a:r>
            <a:endParaRPr lang="en-US" sz="1560" dirty="0"/>
          </a:p>
        </p:txBody>
      </p:sp>
      <p:sp>
        <p:nvSpPr>
          <p:cNvPr id="35" name="Text 33"/>
          <p:cNvSpPr/>
          <p:nvPr/>
        </p:nvSpPr>
        <p:spPr>
          <a:xfrm>
            <a:off x="9372600" y="4709160"/>
            <a:ext cx="235000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an interactive Power BI dashboard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11430000" y="651052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15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TECHNOLOGY STACK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Behind the Analysis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11880" cy="420624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E3E9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B34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91640"/>
            <a:ext cx="3611880" cy="50292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91640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&amp; Libraries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377440"/>
            <a:ext cx="30632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800"/>
              </a:spcAft>
              <a:buNone/>
            </a:pPr>
            <a:r>
              <a:rPr lang="en-US" sz="15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🐍 Python</a:t>
            </a:r>
            <a:endParaRPr lang="en-US" sz="15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15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🐼 Pandas</a:t>
            </a:r>
            <a:endParaRPr lang="en-US" sz="15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15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🔢 NumPy</a:t>
            </a:r>
            <a:endParaRPr lang="en-US" sz="15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15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Matplotlib</a:t>
            </a:r>
            <a:endParaRPr lang="en-US" sz="15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15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SQLAlchemy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343400" y="1691640"/>
            <a:ext cx="3611880" cy="420624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E3E9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B34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43400" y="1691640"/>
            <a:ext cx="3611880" cy="50292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10" name="Text 8"/>
          <p:cNvSpPr/>
          <p:nvPr/>
        </p:nvSpPr>
        <p:spPr>
          <a:xfrm>
            <a:off x="4343400" y="1691640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&amp; BI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617720" y="2377440"/>
            <a:ext cx="30632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800"/>
              </a:spcAft>
              <a:buNone/>
            </a:pPr>
            <a:r>
              <a:rPr lang="en-US" sz="15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SQLite</a:t>
            </a:r>
            <a:endParaRPr lang="en-US" sz="15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15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Power BI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138160" y="1691640"/>
            <a:ext cx="3611880" cy="420624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E3E9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B34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38160" y="1691640"/>
            <a:ext cx="3611880" cy="50292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14" name="Text 12"/>
          <p:cNvSpPr/>
          <p:nvPr/>
        </p:nvSpPr>
        <p:spPr>
          <a:xfrm>
            <a:off x="8138160" y="1691640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Tools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0" y="2377440"/>
            <a:ext cx="30632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800"/>
              </a:spcAft>
              <a:buNone/>
            </a:pPr>
            <a:r>
              <a:rPr lang="en-US" sz="15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🧰 VS Code</a:t>
            </a:r>
            <a:endParaRPr lang="en-US" sz="15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15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📓 Jupyter Notebook</a:t>
            </a:r>
            <a:endParaRPr lang="en-US" sz="15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15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Git</a:t>
            </a:r>
            <a:endParaRPr lang="en-US" sz="15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15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🐙 GitHub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1430000" y="651052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PROJECT ARCHITECTURE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Data to Final Insights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3017520"/>
            <a:ext cx="1170432" cy="822960"/>
          </a:xfrm>
          <a:prstGeom prst="roundRect">
            <a:avLst>
              <a:gd name="adj" fmla="val 6667"/>
            </a:avLst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017520"/>
            <a:ext cx="13533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Datasets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673352" y="3200400"/>
            <a:ext cx="161163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788795" y="3017520"/>
            <a:ext cx="1170432" cy="822960"/>
          </a:xfrm>
          <a:prstGeom prst="roundRect">
            <a:avLst>
              <a:gd name="adj" fmla="val 6667"/>
            </a:avLst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1697355" y="3017520"/>
            <a:ext cx="13533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Pipeline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913507" y="3200400"/>
            <a:ext cx="161163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028950" y="3017520"/>
            <a:ext cx="1170432" cy="822960"/>
          </a:xfrm>
          <a:prstGeom prst="roundRect">
            <a:avLst>
              <a:gd name="adj" fmla="val 6667"/>
            </a:avLst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2937510" y="3017520"/>
            <a:ext cx="13533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53662" y="3200400"/>
            <a:ext cx="161163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269105" y="3017520"/>
            <a:ext cx="1170432" cy="822960"/>
          </a:xfrm>
          <a:prstGeom prst="roundRect">
            <a:avLst>
              <a:gd name="adj" fmla="val 6667"/>
            </a:avLst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4177665" y="3017520"/>
            <a:ext cx="13533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Database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393817" y="3200400"/>
            <a:ext cx="161163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509260" y="3017520"/>
            <a:ext cx="1170432" cy="822960"/>
          </a:xfrm>
          <a:prstGeom prst="roundRect">
            <a:avLst>
              <a:gd name="adj" fmla="val 6667"/>
            </a:avLst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5417820" y="3017520"/>
            <a:ext cx="13533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633972" y="3200400"/>
            <a:ext cx="161163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749415" y="3017520"/>
            <a:ext cx="1170432" cy="822960"/>
          </a:xfrm>
          <a:prstGeom prst="roundRect">
            <a:avLst>
              <a:gd name="adj" fmla="val 6667"/>
            </a:avLst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6657975" y="3017520"/>
            <a:ext cx="13533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Analytics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874127" y="3200400"/>
            <a:ext cx="161163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7989570" y="3017520"/>
            <a:ext cx="1170432" cy="822960"/>
          </a:xfrm>
          <a:prstGeom prst="roundRect">
            <a:avLst>
              <a:gd name="adj" fmla="val 6667"/>
            </a:avLst>
          </a:prstGeom>
          <a:solidFill>
            <a:srgbClr val="1C7293"/>
          </a:solidFill>
          <a:ln/>
        </p:spPr>
      </p:sp>
      <p:sp>
        <p:nvSpPr>
          <p:cNvPr id="23" name="Text 21"/>
          <p:cNvSpPr/>
          <p:nvPr/>
        </p:nvSpPr>
        <p:spPr>
          <a:xfrm>
            <a:off x="7898130" y="3017520"/>
            <a:ext cx="13533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Analytics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114282" y="3200400"/>
            <a:ext cx="161163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9229725" y="3017520"/>
            <a:ext cx="1170432" cy="822960"/>
          </a:xfrm>
          <a:prstGeom prst="roundRect">
            <a:avLst>
              <a:gd name="adj" fmla="val 6667"/>
            </a:avLst>
          </a:prstGeom>
          <a:solidFill>
            <a:srgbClr val="1C7293"/>
          </a:solidFill>
          <a:ln/>
        </p:spPr>
      </p:sp>
      <p:sp>
        <p:nvSpPr>
          <p:cNvPr id="26" name="Text 24"/>
          <p:cNvSpPr/>
          <p:nvPr/>
        </p:nvSpPr>
        <p:spPr>
          <a:xfrm>
            <a:off x="9138285" y="3017520"/>
            <a:ext cx="13533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354437" y="3200400"/>
            <a:ext cx="161163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10469880" y="3017520"/>
            <a:ext cx="1170432" cy="822960"/>
          </a:xfrm>
          <a:prstGeom prst="roundRect">
            <a:avLst>
              <a:gd name="adj" fmla="val 6667"/>
            </a:avLst>
          </a:prstGeom>
          <a:solidFill>
            <a:srgbClr val="02C39A"/>
          </a:solidFill>
          <a:ln/>
        </p:spPr>
      </p:sp>
      <p:sp>
        <p:nvSpPr>
          <p:cNvPr id="29" name="Text 27"/>
          <p:cNvSpPr/>
          <p:nvPr/>
        </p:nvSpPr>
        <p:spPr>
          <a:xfrm>
            <a:off x="10378440" y="3017520"/>
            <a:ext cx="13533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Insights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31520" y="457200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linear pipeline: raw CSVs are extracted, transformed, and loaded into SQLite; then explored, scored for performance and risk, and finally surfaced through an interactive Power BI dashboard.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1430000" y="651052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DATASET OVERVIEW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Nine Datasets, One Unified Model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9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B34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125980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1259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20" dirty="0">
                <a:solidFill>
                  <a:srgbClr val="000000"/>
                </a:solidFill>
              </a:rPr>
              <a:t>📇</a:t>
            </a:r>
            <a:endParaRPr lang="en-US" sz="1820" dirty="0"/>
          </a:p>
        </p:txBody>
      </p:sp>
      <p:sp>
        <p:nvSpPr>
          <p:cNvPr id="7" name="Text 5"/>
          <p:cNvSpPr/>
          <p:nvPr/>
        </p:nvSpPr>
        <p:spPr>
          <a:xfrm>
            <a:off x="1600200" y="1737360"/>
            <a:ext cx="23774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Master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343400" y="173736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9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B34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0" y="2125980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0" y="21259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20" dirty="0">
                <a:solidFill>
                  <a:srgbClr val="000000"/>
                </a:solidFill>
              </a:rPr>
              <a:t>📈</a:t>
            </a:r>
            <a:endParaRPr lang="en-US" sz="1820" dirty="0"/>
          </a:p>
        </p:txBody>
      </p:sp>
      <p:sp>
        <p:nvSpPr>
          <p:cNvPr id="11" name="Text 9"/>
          <p:cNvSpPr/>
          <p:nvPr/>
        </p:nvSpPr>
        <p:spPr>
          <a:xfrm>
            <a:off x="5394960" y="1737360"/>
            <a:ext cx="23774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 History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138160" y="173736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9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B34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366760" y="2125980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4" name="Text 12"/>
          <p:cNvSpPr/>
          <p:nvPr/>
        </p:nvSpPr>
        <p:spPr>
          <a:xfrm>
            <a:off x="8366760" y="21259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20" dirty="0">
                <a:solidFill>
                  <a:srgbClr val="000000"/>
                </a:solidFill>
              </a:rPr>
              <a:t>💰</a:t>
            </a:r>
            <a:endParaRPr lang="en-US" sz="1820" dirty="0"/>
          </a:p>
        </p:txBody>
      </p:sp>
      <p:sp>
        <p:nvSpPr>
          <p:cNvPr id="15" name="Text 13"/>
          <p:cNvSpPr/>
          <p:nvPr/>
        </p:nvSpPr>
        <p:spPr>
          <a:xfrm>
            <a:off x="9189720" y="1737360"/>
            <a:ext cx="23774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3355848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9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B34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77240" y="3744468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374446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20" dirty="0">
                <a:solidFill>
                  <a:srgbClr val="000000"/>
                </a:solidFill>
              </a:rPr>
              <a:t>🔁</a:t>
            </a:r>
            <a:endParaRPr lang="en-US" sz="1820" dirty="0"/>
          </a:p>
        </p:txBody>
      </p:sp>
      <p:sp>
        <p:nvSpPr>
          <p:cNvPr id="19" name="Text 17"/>
          <p:cNvSpPr/>
          <p:nvPr/>
        </p:nvSpPr>
        <p:spPr>
          <a:xfrm>
            <a:off x="1600200" y="3355848"/>
            <a:ext cx="23774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 Inflows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343400" y="3355848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9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B34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0" y="3744468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0" y="374446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20" dirty="0">
                <a:solidFill>
                  <a:srgbClr val="000000"/>
                </a:solidFill>
              </a:rPr>
              <a:t>🏷️</a:t>
            </a:r>
            <a:endParaRPr lang="en-US" sz="1820" dirty="0"/>
          </a:p>
        </p:txBody>
      </p:sp>
      <p:sp>
        <p:nvSpPr>
          <p:cNvPr id="23" name="Text 21"/>
          <p:cNvSpPr/>
          <p:nvPr/>
        </p:nvSpPr>
        <p:spPr>
          <a:xfrm>
            <a:off x="5394960" y="3355848"/>
            <a:ext cx="23774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Inflows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8138160" y="3355848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9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B34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366760" y="3744468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6" name="Text 24"/>
          <p:cNvSpPr/>
          <p:nvPr/>
        </p:nvSpPr>
        <p:spPr>
          <a:xfrm>
            <a:off x="8366760" y="374446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20" dirty="0">
                <a:solidFill>
                  <a:srgbClr val="000000"/>
                </a:solidFill>
              </a:rPr>
              <a:t>🧾</a:t>
            </a:r>
            <a:endParaRPr lang="en-US" sz="1820" dirty="0"/>
          </a:p>
        </p:txBody>
      </p:sp>
      <p:sp>
        <p:nvSpPr>
          <p:cNvPr id="27" name="Text 25"/>
          <p:cNvSpPr/>
          <p:nvPr/>
        </p:nvSpPr>
        <p:spPr>
          <a:xfrm>
            <a:off x="9189720" y="3355848"/>
            <a:ext cx="23774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Transactions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548640" y="4974336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9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B34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77240" y="5362956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30" name="Text 28"/>
          <p:cNvSpPr/>
          <p:nvPr/>
        </p:nvSpPr>
        <p:spPr>
          <a:xfrm>
            <a:off x="777240" y="5362956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20" dirty="0">
                <a:solidFill>
                  <a:srgbClr val="000000"/>
                </a:solidFill>
              </a:rPr>
              <a:t>📦</a:t>
            </a:r>
            <a:endParaRPr lang="en-US" sz="1820" dirty="0"/>
          </a:p>
        </p:txBody>
      </p:sp>
      <p:sp>
        <p:nvSpPr>
          <p:cNvPr id="31" name="Text 29"/>
          <p:cNvSpPr/>
          <p:nvPr/>
        </p:nvSpPr>
        <p:spPr>
          <a:xfrm>
            <a:off x="1600200" y="4974336"/>
            <a:ext cx="23774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Holdings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4343400" y="4974336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9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B34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572000" y="5362956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0" y="5362956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20" dirty="0">
                <a:solidFill>
                  <a:srgbClr val="000000"/>
                </a:solidFill>
              </a:rPr>
              <a:t>🏆</a:t>
            </a:r>
            <a:endParaRPr lang="en-US" sz="1820" dirty="0"/>
          </a:p>
        </p:txBody>
      </p:sp>
      <p:sp>
        <p:nvSpPr>
          <p:cNvPr id="35" name="Text 33"/>
          <p:cNvSpPr/>
          <p:nvPr/>
        </p:nvSpPr>
        <p:spPr>
          <a:xfrm>
            <a:off x="5394960" y="4974336"/>
            <a:ext cx="23774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Scheme Performance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8138160" y="4974336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9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B34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8366760" y="5362956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38" name="Text 36"/>
          <p:cNvSpPr/>
          <p:nvPr/>
        </p:nvSpPr>
        <p:spPr>
          <a:xfrm>
            <a:off x="8366760" y="5362956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20" dirty="0">
                <a:solidFill>
                  <a:srgbClr val="000000"/>
                </a:solidFill>
              </a:rPr>
              <a:t>📐</a:t>
            </a:r>
            <a:endParaRPr lang="en-US" sz="1820" dirty="0"/>
          </a:p>
        </p:txBody>
      </p:sp>
      <p:sp>
        <p:nvSpPr>
          <p:cNvPr id="39" name="Text 37"/>
          <p:cNvSpPr/>
          <p:nvPr/>
        </p:nvSpPr>
        <p:spPr>
          <a:xfrm>
            <a:off x="9189720" y="4974336"/>
            <a:ext cx="23774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Indices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548640" y="62636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dataset was cleaned, validated, and standardized before analysis.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11430000" y="651052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15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ETL PIPELINE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Extract → Transform → Load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611880" cy="416052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E3E9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B34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943100" y="196596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1943100" y="19659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40" dirty="0">
                <a:solidFill>
                  <a:srgbClr val="000000"/>
                </a:solidFill>
              </a:rPr>
              <a:t>📥</a:t>
            </a:r>
            <a:endParaRPr lang="en-US" sz="2340" dirty="0"/>
          </a:p>
        </p:txBody>
      </p:sp>
      <p:sp>
        <p:nvSpPr>
          <p:cNvPr id="7" name="Text 5"/>
          <p:cNvSpPr/>
          <p:nvPr/>
        </p:nvSpPr>
        <p:spPr>
          <a:xfrm>
            <a:off x="548640" y="288036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3429000"/>
            <a:ext cx="29718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raw CSV datasets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60520" y="3200400"/>
            <a:ext cx="182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343400" y="1737360"/>
            <a:ext cx="3611880" cy="416052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E3E9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B34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737860" y="1965960"/>
            <a:ext cx="822960" cy="8229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5737860" y="19659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40" dirty="0">
                <a:solidFill>
                  <a:srgbClr val="000000"/>
                </a:solidFill>
              </a:rPr>
              <a:t>🔧</a:t>
            </a:r>
            <a:endParaRPr lang="en-US" sz="2340" dirty="0"/>
          </a:p>
        </p:txBody>
      </p:sp>
      <p:sp>
        <p:nvSpPr>
          <p:cNvPr id="13" name="Text 11"/>
          <p:cNvSpPr/>
          <p:nvPr/>
        </p:nvSpPr>
        <p:spPr>
          <a:xfrm>
            <a:off x="4343400" y="288036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663440" y="3429000"/>
            <a:ext cx="29718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Removing duplicates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missing values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Standardizing column names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Formatting dates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Correcting data types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955280" y="3200400"/>
            <a:ext cx="182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8138160" y="1737360"/>
            <a:ext cx="3611880" cy="416052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E3E9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B34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532620" y="1965960"/>
            <a:ext cx="822960" cy="822960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18" name="Text 16"/>
          <p:cNvSpPr/>
          <p:nvPr/>
        </p:nvSpPr>
        <p:spPr>
          <a:xfrm>
            <a:off x="9532620" y="19659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40" dirty="0">
                <a:solidFill>
                  <a:srgbClr val="000000"/>
                </a:solidFill>
              </a:rPr>
              <a:t>📤</a:t>
            </a:r>
            <a:endParaRPr lang="en-US" sz="2340" dirty="0"/>
          </a:p>
        </p:txBody>
      </p:sp>
      <p:sp>
        <p:nvSpPr>
          <p:cNvPr id="19" name="Text 17"/>
          <p:cNvSpPr/>
          <p:nvPr/>
        </p:nvSpPr>
        <p:spPr>
          <a:xfrm>
            <a:off x="8138160" y="288036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458200" y="3429000"/>
            <a:ext cx="29718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 processed datasets into SQLite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430000" y="651052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15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DATABASE DESIGN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SQLite Schema — Dimensions &amp; Facts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291840" cy="416052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3E9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B34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737360"/>
            <a:ext cx="3291840" cy="5029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73736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 Tables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25146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■"/>
            </a:pPr>
            <a:r>
              <a:rPr lang="en-US" sz="14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Master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0632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■"/>
            </a:pPr>
            <a:r>
              <a:rPr lang="en-US" sz="14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977640" y="329184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joined 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AMFI Code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840480" y="3611880"/>
            <a:ext cx="137160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5577840" y="1737360"/>
            <a:ext cx="6062472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E3E9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B34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577840" y="1737360"/>
            <a:ext cx="6062472" cy="50292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13" name="Text 11"/>
          <p:cNvSpPr/>
          <p:nvPr/>
        </p:nvSpPr>
        <p:spPr>
          <a:xfrm>
            <a:off x="5577840" y="1737360"/>
            <a:ext cx="60624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 Tables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852160" y="2423160"/>
            <a:ext cx="2743200" cy="777240"/>
          </a:xfrm>
          <a:prstGeom prst="roundRect">
            <a:avLst>
              <a:gd name="adj" fmla="val 7059"/>
            </a:avLst>
          </a:prstGeom>
          <a:solidFill>
            <a:srgbClr val="F5F8FA"/>
          </a:solidFill>
          <a:ln w="12700">
            <a:solidFill>
              <a:srgbClr val="E3E9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52160" y="242316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 History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732520" y="2423160"/>
            <a:ext cx="2743200" cy="777240"/>
          </a:xfrm>
          <a:prstGeom prst="roundRect">
            <a:avLst>
              <a:gd name="adj" fmla="val 7059"/>
            </a:avLst>
          </a:prstGeom>
          <a:solidFill>
            <a:srgbClr val="F5F8FA"/>
          </a:solidFill>
          <a:ln w="12700">
            <a:solidFill>
              <a:srgbClr val="E3E9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32520" y="242316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852160" y="3246120"/>
            <a:ext cx="2743200" cy="777240"/>
          </a:xfrm>
          <a:prstGeom prst="roundRect">
            <a:avLst>
              <a:gd name="adj" fmla="val 7059"/>
            </a:avLst>
          </a:prstGeom>
          <a:solidFill>
            <a:srgbClr val="F5F8FA"/>
          </a:solidFill>
          <a:ln w="12700">
            <a:solidFill>
              <a:srgbClr val="E3E9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52160" y="324612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732520" y="3246120"/>
            <a:ext cx="2743200" cy="777240"/>
          </a:xfrm>
          <a:prstGeom prst="roundRect">
            <a:avLst>
              <a:gd name="adj" fmla="val 7059"/>
            </a:avLst>
          </a:prstGeom>
          <a:solidFill>
            <a:srgbClr val="F5F8FA"/>
          </a:solidFill>
          <a:ln w="12700">
            <a:solidFill>
              <a:srgbClr val="E3E9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732520" y="324612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Inflows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852160" y="4069080"/>
            <a:ext cx="2743200" cy="777240"/>
          </a:xfrm>
          <a:prstGeom prst="roundRect">
            <a:avLst>
              <a:gd name="adj" fmla="val 7059"/>
            </a:avLst>
          </a:prstGeom>
          <a:solidFill>
            <a:srgbClr val="F5F8FA"/>
          </a:solidFill>
          <a:ln w="12700">
            <a:solidFill>
              <a:srgbClr val="E3E9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52160" y="406908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Transactions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732520" y="4069080"/>
            <a:ext cx="2743200" cy="777240"/>
          </a:xfrm>
          <a:prstGeom prst="roundRect">
            <a:avLst>
              <a:gd name="adj" fmla="val 7059"/>
            </a:avLst>
          </a:prstGeom>
          <a:solidFill>
            <a:srgbClr val="F5F8FA"/>
          </a:solidFill>
          <a:ln w="12700">
            <a:solidFill>
              <a:srgbClr val="E3E9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732520" y="406908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Holdings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852160" y="4892040"/>
            <a:ext cx="2743200" cy="777240"/>
          </a:xfrm>
          <a:prstGeom prst="roundRect">
            <a:avLst>
              <a:gd name="adj" fmla="val 7059"/>
            </a:avLst>
          </a:prstGeom>
          <a:solidFill>
            <a:srgbClr val="F5F8FA"/>
          </a:solidFill>
          <a:ln w="12700">
            <a:solidFill>
              <a:srgbClr val="E3E9E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52160" y="489204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1430000" y="651052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15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EXPLORATORY DATA ANALYSIS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Spotting Trends Across the Fund Universe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1206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category distribution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 trends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house comparison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 analysis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 growth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holdings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comparison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580644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 charts were generated to identify trends and patterns across the fund universe.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0" y="1691640"/>
            <a:ext cx="5696712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E3E9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B34">
                <a:alpha val="12000"/>
              </a:srgbClr>
            </a:outerShdw>
          </a:effectLst>
        </p:spPr>
      </p:sp>
      <p:pic>
        <p:nvPicPr>
          <p:cNvPr id="7" name="Image 0" descr="chart_nav_tre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0" y="1965960"/>
            <a:ext cx="5330952" cy="18288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126480" y="3931920"/>
            <a:ext cx="5330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Monthly NAV Trend — steady growth from ~207 (Jan 2022) to ~356 (May 2026)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1430000" y="651052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PERFORMANCE ANALYTICS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Measuring Risk-Adjusted Return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715768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3E9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B34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87452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468880"/>
            <a:ext cx="23500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Returns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834640"/>
            <a:ext cx="23500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Day-over-day NAV change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429000" y="1691640"/>
            <a:ext cx="2715768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3E9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B34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11880" y="187452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3611880" y="2468880"/>
            <a:ext cx="23500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11880" y="2834640"/>
            <a:ext cx="23500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 annual growth rate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309360" y="1691640"/>
            <a:ext cx="2715768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3E9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B34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92240" y="187452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2468880"/>
            <a:ext cx="23500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 Ratio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92240" y="2834640"/>
            <a:ext cx="23500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per unit of total risk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189720" y="1691640"/>
            <a:ext cx="2715768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3E9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B34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372600" y="187452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18" name="Text 16"/>
          <p:cNvSpPr/>
          <p:nvPr/>
        </p:nvSpPr>
        <p:spPr>
          <a:xfrm>
            <a:off x="9372600" y="2468880"/>
            <a:ext cx="23500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Sortino Ratio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372600" y="2834640"/>
            <a:ext cx="23500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per unit of downside risk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3767328"/>
            <a:ext cx="2715768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3E9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B34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31520" y="395020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4544568"/>
            <a:ext cx="23500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31520" y="4910328"/>
            <a:ext cx="23500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 return vs. benchmark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429000" y="3767328"/>
            <a:ext cx="2715768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3E9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B34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11880" y="395020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26" name="Text 24"/>
          <p:cNvSpPr/>
          <p:nvPr/>
        </p:nvSpPr>
        <p:spPr>
          <a:xfrm>
            <a:off x="3611880" y="4544568"/>
            <a:ext cx="23500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611880" y="4910328"/>
            <a:ext cx="23500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to market moves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309360" y="3767328"/>
            <a:ext cx="2715768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3E9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B34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492240" y="395020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30" name="Text 28"/>
          <p:cNvSpPr/>
          <p:nvPr/>
        </p:nvSpPr>
        <p:spPr>
          <a:xfrm>
            <a:off x="6492240" y="4544568"/>
            <a:ext cx="23500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Drawdown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492240" y="4910328"/>
            <a:ext cx="23500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peak-to-trough decline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9189720" y="3767328"/>
            <a:ext cx="2715768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3E9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B34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9372600" y="395020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34" name="Text 32"/>
          <p:cNvSpPr/>
          <p:nvPr/>
        </p:nvSpPr>
        <p:spPr>
          <a:xfrm>
            <a:off x="9372600" y="4544568"/>
            <a:ext cx="23500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Error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9372600" y="4910328"/>
            <a:ext cx="23500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 from benchmark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11430000" y="651052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ADVANCED ANALYTICS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Going Deeper on Risk &amp; Behavior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51206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500"/>
              </a:spcAft>
              <a:buSzPct val="100000"/>
              <a:buChar char="●"/>
            </a:pPr>
            <a:r>
              <a:rPr lang="en-US" sz="15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at Risk (VaR)</a:t>
            </a:r>
            <a:endParaRPr lang="en-US" sz="1500" dirty="0"/>
          </a:p>
          <a:p>
            <a:pPr marL="342900" indent="-342900">
              <a:spcAft>
                <a:spcPts val="1500"/>
              </a:spcAft>
              <a:buSzPct val="100000"/>
              <a:buChar char="●"/>
            </a:pPr>
            <a:r>
              <a:rPr lang="en-US" sz="15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Value at Risk (CVaR)</a:t>
            </a:r>
            <a:endParaRPr lang="en-US" sz="1500" dirty="0"/>
          </a:p>
          <a:p>
            <a:pPr marL="342900" indent="-342900">
              <a:spcAft>
                <a:spcPts val="1500"/>
              </a:spcAft>
              <a:buSzPct val="100000"/>
              <a:buChar char="●"/>
            </a:pPr>
            <a:r>
              <a:rPr lang="en-US" sz="15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Sharpe Ratio</a:t>
            </a:r>
            <a:endParaRPr lang="en-US" sz="1500" dirty="0"/>
          </a:p>
          <a:p>
            <a:pPr marL="342900" indent="-342900">
              <a:spcAft>
                <a:spcPts val="1500"/>
              </a:spcAft>
              <a:buSzPct val="100000"/>
              <a:buChar char="●"/>
            </a:pPr>
            <a:r>
              <a:rPr lang="en-US" sz="15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Cohort Analysis</a:t>
            </a:r>
            <a:endParaRPr lang="en-US" sz="1500" dirty="0"/>
          </a:p>
          <a:p>
            <a:pPr marL="342900" indent="-342900">
              <a:spcAft>
                <a:spcPts val="1500"/>
              </a:spcAft>
              <a:buSzPct val="100000"/>
              <a:buChar char="●"/>
            </a:pPr>
            <a:r>
              <a:rPr lang="en-US" sz="15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 Continuity Analysis</a:t>
            </a:r>
            <a:endParaRPr lang="en-US" sz="1500" dirty="0"/>
          </a:p>
          <a:p>
            <a:pPr marL="342900" indent="-342900">
              <a:spcAft>
                <a:spcPts val="1500"/>
              </a:spcAft>
              <a:buSzPct val="100000"/>
              <a:buChar char="●"/>
            </a:pPr>
            <a:r>
              <a:rPr lang="en-US" sz="15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Concentration (HHI)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548640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analyses provided deeper insight into fund performance and investor behavior beyond standard return metrics.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0" y="1691640"/>
            <a:ext cx="5696712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3E9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B34">
                <a:alpha val="12000"/>
              </a:srgbClr>
            </a:outerShdw>
          </a:effectLst>
        </p:spPr>
      </p:sp>
      <p:pic>
        <p:nvPicPr>
          <p:cNvPr id="7" name="Image 0" descr="chart_rolling_sharp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08192" y="1874520"/>
            <a:ext cx="5367528" cy="2788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108192" y="4754880"/>
            <a:ext cx="536752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90-Day Rolling Sharpe Ratio across selected SBI schemes (2022–2026)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1430000" y="651052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 POWER BI DASHBOARD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Pages, One Interactive Story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3E9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B34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2024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202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90" dirty="0">
                <a:solidFill>
                  <a:srgbClr val="000000"/>
                </a:solidFill>
              </a:rPr>
              <a:t>🧭</a:t>
            </a:r>
            <a:endParaRPr lang="en-US" sz="1690" dirty="0"/>
          </a:p>
        </p:txBody>
      </p:sp>
      <p:sp>
        <p:nvSpPr>
          <p:cNvPr id="7" name="Text 5"/>
          <p:cNvSpPr/>
          <p:nvPr/>
        </p:nvSpPr>
        <p:spPr>
          <a:xfrm>
            <a:off x="1508760" y="1947672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2651760"/>
            <a:ext cx="31546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Funds · Total AUM · Average Returns · Fund Distribution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43400" y="169164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3E9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B34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0" y="192024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19202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90" dirty="0">
                <a:solidFill>
                  <a:srgbClr val="000000"/>
                </a:solidFill>
              </a:rPr>
              <a:t>📈</a:t>
            </a:r>
            <a:endParaRPr lang="en-US" sz="1690" dirty="0"/>
          </a:p>
        </p:txBody>
      </p:sp>
      <p:sp>
        <p:nvSpPr>
          <p:cNvPr id="12" name="Text 10"/>
          <p:cNvSpPr/>
          <p:nvPr/>
        </p:nvSpPr>
        <p:spPr>
          <a:xfrm>
            <a:off x="5303520" y="1947672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Analytics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0" y="2651760"/>
            <a:ext cx="31546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 Ratio · Alpha · Max Drawdown · Benchmark Comparison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406908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3E9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B34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7240" y="429768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2976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90" dirty="0">
                <a:solidFill>
                  <a:srgbClr val="000000"/>
                </a:solidFill>
              </a:rPr>
              <a:t>👥</a:t>
            </a:r>
            <a:endParaRPr lang="en-US" sz="1690" dirty="0"/>
          </a:p>
        </p:txBody>
      </p:sp>
      <p:sp>
        <p:nvSpPr>
          <p:cNvPr id="17" name="Text 15"/>
          <p:cNvSpPr/>
          <p:nvPr/>
        </p:nvSpPr>
        <p:spPr>
          <a:xfrm>
            <a:off x="1508760" y="4325112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Analytics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77240" y="5029200"/>
            <a:ext cx="31546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 Trends · Transaction Analysis · Investor Activity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343400" y="406908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3E9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B34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0" y="429768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0" y="42976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90" dirty="0">
                <a:solidFill>
                  <a:srgbClr val="000000"/>
                </a:solidFill>
              </a:rPr>
              <a:t>🛡️</a:t>
            </a:r>
            <a:endParaRPr lang="en-US" sz="1690" dirty="0"/>
          </a:p>
        </p:txBody>
      </p:sp>
      <p:sp>
        <p:nvSpPr>
          <p:cNvPr id="22" name="Text 20"/>
          <p:cNvSpPr/>
          <p:nvPr/>
        </p:nvSpPr>
        <p:spPr>
          <a:xfrm>
            <a:off x="5303520" y="4325112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&amp; Risk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572000" y="5029200"/>
            <a:ext cx="31546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Holdings · Sector Allocation · VaR · CVaR · Rolling Sharpe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549640" y="1691640"/>
            <a:ext cx="3108960" cy="443484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E3E9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B34">
                <a:alpha val="12000"/>
              </a:srgbClr>
            </a:outerShdw>
          </a:effectLst>
        </p:spPr>
      </p:sp>
      <p:pic>
        <p:nvPicPr>
          <p:cNvPr id="25" name="Image 0" descr="chart_recommen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0" y="1828800"/>
            <a:ext cx="2834640" cy="1435608"/>
          </a:xfrm>
          <a:prstGeom prst="rect">
            <a:avLst/>
          </a:prstGeom>
        </p:spPr>
      </p:pic>
      <p:pic>
        <p:nvPicPr>
          <p:cNvPr id="26" name="Image 1" descr="chart_txn_pi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3960" y="3429000"/>
            <a:ext cx="2560320" cy="2560320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11430000" y="651052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 KEY FINDINGS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Data Told Us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73736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737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60" dirty="0">
                <a:solidFill>
                  <a:srgbClr val="000000"/>
                </a:solidFill>
              </a:rPr>
              <a:t>📊</a:t>
            </a:r>
            <a:endParaRPr lang="en-US" sz="1560" dirty="0"/>
          </a:p>
        </p:txBody>
      </p:sp>
      <p:sp>
        <p:nvSpPr>
          <p:cNvPr id="6" name="Text 4"/>
          <p:cNvSpPr/>
          <p:nvPr/>
        </p:nvSpPr>
        <p:spPr>
          <a:xfrm>
            <a:off x="1554480" y="1691640"/>
            <a:ext cx="9875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funds generated higher long-term returns than debt funds.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265176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651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60" dirty="0">
                <a:solidFill>
                  <a:srgbClr val="000000"/>
                </a:solidFill>
              </a:rPr>
              <a:t>💸</a:t>
            </a:r>
            <a:endParaRPr lang="en-US" sz="1560" dirty="0"/>
          </a:p>
        </p:txBody>
      </p:sp>
      <p:sp>
        <p:nvSpPr>
          <p:cNvPr id="9" name="Text 7"/>
          <p:cNvSpPr/>
          <p:nvPr/>
        </p:nvSpPr>
        <p:spPr>
          <a:xfrm>
            <a:off x="1554480" y="2606040"/>
            <a:ext cx="9875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expense ratios did not always mean better performance.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31520" y="356616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566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60" dirty="0">
                <a:solidFill>
                  <a:srgbClr val="000000"/>
                </a:solidFill>
              </a:rPr>
              <a:t>🏆</a:t>
            </a:r>
            <a:endParaRPr lang="en-US" sz="1560" dirty="0"/>
          </a:p>
        </p:txBody>
      </p:sp>
      <p:sp>
        <p:nvSpPr>
          <p:cNvPr id="12" name="Text 10"/>
          <p:cNvSpPr/>
          <p:nvPr/>
        </p:nvSpPr>
        <p:spPr>
          <a:xfrm>
            <a:off x="1554480" y="3520440"/>
            <a:ext cx="9875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funds consistently outperformed their benchmark indices.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31520" y="448056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480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60" dirty="0">
                <a:solidFill>
                  <a:srgbClr val="000000"/>
                </a:solidFill>
              </a:rPr>
              <a:t>📈</a:t>
            </a:r>
            <a:endParaRPr lang="en-US" sz="1560" dirty="0"/>
          </a:p>
        </p:txBody>
      </p:sp>
      <p:sp>
        <p:nvSpPr>
          <p:cNvPr id="15" name="Text 13"/>
          <p:cNvSpPr/>
          <p:nvPr/>
        </p:nvSpPr>
        <p:spPr>
          <a:xfrm>
            <a:off x="1554480" y="4434840"/>
            <a:ext cx="9875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 inflows showed steady long-term growth.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31520" y="539496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5394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60" dirty="0">
                <a:solidFill>
                  <a:srgbClr val="000000"/>
                </a:solidFill>
              </a:rPr>
              <a:t>🧮</a:t>
            </a:r>
            <a:endParaRPr lang="en-US" sz="1560" dirty="0"/>
          </a:p>
        </p:txBody>
      </p:sp>
      <p:sp>
        <p:nvSpPr>
          <p:cNvPr id="18" name="Text 16"/>
          <p:cNvSpPr/>
          <p:nvPr/>
        </p:nvSpPr>
        <p:spPr>
          <a:xfrm>
            <a:off x="1554480" y="5349240"/>
            <a:ext cx="9875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Risk-adjusted metrics identified better opportunities than return alone.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430000" y="651052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 CONCLUSION &amp; FUTURE SCOPE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Insight to Impact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539496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delivered an end-to-end analytics workflow — from raw financial data to ETL, risk-adjusted performance evaluation, and interactive dashboards — strengthening practical skills in data engineering, financial analytics, and business intelligence.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217920" y="1645920"/>
            <a:ext cx="5422392" cy="4297680"/>
          </a:xfrm>
          <a:prstGeom prst="roundRect">
            <a:avLst>
              <a:gd name="adj" fmla="val 1702"/>
            </a:avLst>
          </a:prstGeom>
          <a:solidFill>
            <a:srgbClr val="12325C"/>
          </a:solidFill>
          <a:ln/>
        </p:spPr>
      </p:sp>
      <p:sp>
        <p:nvSpPr>
          <p:cNvPr id="6" name="Text 4"/>
          <p:cNvSpPr/>
          <p:nvPr/>
        </p:nvSpPr>
        <p:spPr>
          <a:xfrm>
            <a:off x="6492240" y="18288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92240" y="2377440"/>
            <a:ext cx="48463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100"/>
              </a:spcAft>
              <a:buSzPct val="100000"/>
              <a:buChar char="▸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NAV updates through APIs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▸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learning-based fund recommendations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▸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optimization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▸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Carlo simulation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▸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web application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▸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deployment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▸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dashboard refresh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48640" y="61264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430000" y="651052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2026-07-19T07:12:13Z</dcterms:created>
  <dcterms:modified xsi:type="dcterms:W3CDTF">2026-07-19T07:12:13Z</dcterms:modified>
</cp:coreProperties>
</file>